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(₹)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97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3A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Spoken
English</c:v>
                  </c:pt>
                  <c:pt idx="1">
                    <c:v>Phonics</c:v>
                  </c:pt>
                  <c:pt idx="2">
                    <c:v>Child
Psych</c:v>
                  </c:pt>
                  <c:pt idx="3">
                    <c:v>Montessori
Diploma</c:v>
                  </c:pt>
                  <c:pt idx="4">
                    <c:v>Special
Needs</c:v>
                  </c:pt>
                  <c:pt idx="5">
                    <c:v>Digital
Marketing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400000</c:v>
                </c:pt>
                <c:pt idx="1">
                  <c:v>400000</c:v>
                </c:pt>
                <c:pt idx="2">
                  <c:v>300000</c:v>
                </c:pt>
                <c:pt idx="3">
                  <c:v>2500000</c:v>
                </c:pt>
                <c:pt idx="4">
                  <c:v>450000</c:v>
                </c:pt>
                <c:pt idx="5">
                  <c:v>300000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DFA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(₹)</c:v>
                </c:pt>
              </c:strCache>
            </c:strRef>
          </c:tx>
          <c:spPr>
            <a:solidFill>
              <a:srgbClr val="52B788"/>
            </a:solidFill>
            <a:ln w="38100" cap="flat">
              <a:solidFill>
                <a:srgbClr val="52B7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708333</c:v>
                </c:pt>
                <c:pt idx="1">
                  <c:v>708333</c:v>
                </c:pt>
                <c:pt idx="2">
                  <c:v>708333</c:v>
                </c:pt>
                <c:pt idx="3">
                  <c:v>508333</c:v>
                </c:pt>
                <c:pt idx="4">
                  <c:v>508333</c:v>
                </c:pt>
                <c:pt idx="5">
                  <c:v>508333</c:v>
                </c:pt>
                <c:pt idx="6">
                  <c:v>708333</c:v>
                </c:pt>
                <c:pt idx="7">
                  <c:v>708333</c:v>
                </c:pt>
                <c:pt idx="8">
                  <c:v>708333</c:v>
                </c:pt>
                <c:pt idx="9">
                  <c:v>508333</c:v>
                </c:pt>
                <c:pt idx="10">
                  <c:v>508333</c:v>
                </c:pt>
                <c:pt idx="11">
                  <c:v>508333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Cash Flow (₹)</c:v>
                </c:pt>
              </c:strCache>
            </c:strRef>
          </c:tx>
          <c:spPr>
            <a:solidFill>
              <a:srgbClr val="C8972A"/>
            </a:solidFill>
            <a:ln w="38100" cap="flat">
              <a:solidFill>
                <a:srgbClr val="C89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972A"/>
              </a:solidFill>
              <a:ln w="9525" cap="flat">
                <a:solidFill>
                  <a:srgbClr val="C89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-1163334</c:v>
                </c:pt>
                <c:pt idx="1">
                  <c:v>350833</c:v>
                </c:pt>
                <c:pt idx="2">
                  <c:v>350833</c:v>
                </c:pt>
                <c:pt idx="3">
                  <c:v>190833</c:v>
                </c:pt>
                <c:pt idx="4">
                  <c:v>190833</c:v>
                </c:pt>
                <c:pt idx="5">
                  <c:v>190833</c:v>
                </c:pt>
                <c:pt idx="6">
                  <c:v>350833</c:v>
                </c:pt>
                <c:pt idx="7">
                  <c:v>350833</c:v>
                </c:pt>
                <c:pt idx="8">
                  <c:v>350833</c:v>
                </c:pt>
                <c:pt idx="9">
                  <c:v>190833</c:v>
                </c:pt>
                <c:pt idx="10">
                  <c:v>190833</c:v>
                </c:pt>
                <c:pt idx="11">
                  <c:v>190833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D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43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D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31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bubble3D val="0"/>
            <c:spPr>
              <a:solidFill>
                <a:srgbClr val="C8972A"/>
              </a:solidFill>
              <a:effectLst/>
            </c:spPr>
          </c:dPt>
          <c:dPt>
            <c:idx val="4"/>
            <c:bubble3D val="0"/>
            <c:spPr>
              <a:solidFill>
                <a:srgbClr val="8B3A3A"/>
              </a:solidFill>
              <a:effectLst/>
            </c:spPr>
          </c:dPt>
          <c:dPt>
            <c:idx val="5"/>
            <c:bubble3D val="0"/>
            <c:spPr>
              <a:solidFill>
                <a:srgbClr val="B45309"/>
              </a:solidFill>
              <a:effectLst/>
            </c:spPr>
          </c:dPt>
          <c:dPt>
            <c:idx val="6"/>
            <c:bubble3D val="0"/>
            <c:spPr>
              <a:solidFill>
                <a:srgbClr val="4A5568"/>
              </a:solidFill>
              <a:effectLst/>
            </c:spPr>
          </c:dPt>
          <c:dPt>
            <c:idx val="7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Staff Salaries</c:v>
                </c:pt>
                <c:pt idx="1">
                  <c:v>Tele Callers</c:v>
                </c:pt>
                <c:pt idx="2">
                  <c:v>Advertisement</c:v>
                </c:pt>
                <c:pt idx="3">
                  <c:v>Technology</c:v>
                </c:pt>
                <c:pt idx="4">
                  <c:v>Book Printing</c:v>
                </c:pt>
                <c:pt idx="5">
                  <c:v>Exam Fees</c:v>
                </c:pt>
                <c:pt idx="6">
                  <c:v>Rent</c:v>
                </c:pt>
                <c:pt idx="7">
                  <c:v>Misc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1440000</c:v>
                </c:pt>
                <c:pt idx="1">
                  <c:v>240000</c:v>
                </c:pt>
                <c:pt idx="2">
                  <c:v>240000</c:v>
                </c:pt>
                <c:pt idx="3">
                  <c:v>360000</c:v>
                </c:pt>
                <c:pt idx="4">
                  <c:v>200000</c:v>
                </c:pt>
                <c:pt idx="5">
                  <c:v>870000</c:v>
                </c:pt>
                <c:pt idx="6">
                  <c:v>300000</c:v>
                </c:pt>
                <c:pt idx="7">
                  <c:v>100000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solidFill>
      <a:srgbClr val="FDFA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(₹L)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 2026-27</c:v>
                  </c:pt>
                  <c:pt idx="1">
                    <c:v>FY 2027-28</c:v>
                  </c:pt>
                  <c:pt idx="2">
                    <c:v>FY 2028-29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43.5</c:v>
                </c:pt>
                <c:pt idx="1">
                  <c:v>54.8</c:v>
                </c:pt>
                <c:pt idx="2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(₹L)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 2026-27</c:v>
                  </c:pt>
                  <c:pt idx="1">
                    <c:v>FY 2027-28</c:v>
                  </c:pt>
                  <c:pt idx="2">
                    <c:v>FY 2028-29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34.8</c:v>
                </c:pt>
                <c:pt idx="1">
                  <c:v>43.8</c:v>
                </c:pt>
                <c:pt idx="2">
                  <c:v>55.2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 (₹L)</c:v>
                </c:pt>
              </c:strCache>
            </c:strRef>
          </c:tx>
          <c:spPr>
            <a:solidFill>
              <a:srgbClr val="C89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 2026-27</c:v>
                  </c:pt>
                  <c:pt idx="1">
                    <c:v>FY 2027-28</c:v>
                  </c:pt>
                  <c:pt idx="2">
                    <c:v>FY 2028-29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3.38</c:v>
                </c:pt>
                <c:pt idx="1">
                  <c:v>10.2</c:v>
                </c:pt>
                <c:pt idx="2">
                  <c:v>18.6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DFAF5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72A"/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3474720"/>
            <a:ext cx="2560320" cy="256032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C8972A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3200400"/>
            <a:ext cx="1828800" cy="182880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ANSA MONTESSORI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Institute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4297680" cy="13716"/>
          </a:xfrm>
          <a:prstGeom prst="rect">
            <a:avLst/>
          </a:prstGeom>
          <a:solidFill>
            <a:srgbClr val="C8972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188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11480" y="1828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11480" y="24871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41148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– March 2027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3611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Inspireway Education Services Pvt Ltd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94960" y="457200"/>
            <a:ext cx="3383280" cy="117043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94960" y="457200"/>
            <a:ext cx="64008" cy="1170432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77724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44768" y="6217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₹43.5L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144768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394960" y="1874520"/>
            <a:ext cx="3383280" cy="117043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394960" y="1874520"/>
            <a:ext cx="64008" cy="1170432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219456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44768" y="20391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6144768" y="2532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394960" y="3291840"/>
            <a:ext cx="3383280" cy="117043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94960" y="3291840"/>
            <a:ext cx="64008" cy="1170432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361188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144768" y="34564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₹3.38L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6144768" y="3950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FY 2026–27  •  6 COURSES  •  420 STUDENTS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2026–27  •  5 Teachers  •  Exam Fees 5%  •  Net Profit ₹20.93L  •  Margin 48.1%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01168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097280"/>
            <a:ext cx="1572768" cy="256032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716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₹43.5L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56032" y="272491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956816" y="1097280"/>
            <a:ext cx="1572768" cy="256032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3716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29968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₹41.33L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2029968" y="272491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730752" y="1097280"/>
            <a:ext cx="1572768" cy="2560320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137160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03904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3803904" y="272491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504688" y="1097280"/>
            <a:ext cx="1572768" cy="2560320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37160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77840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₹20.4L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5577840" y="272491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Ops Expenses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7278624" y="1097280"/>
            <a:ext cx="1572768" cy="2560320"/>
          </a:xfrm>
          <a:prstGeom prst="rect">
            <a:avLst/>
          </a:prstGeom>
          <a:solidFill>
            <a:srgbClr val="0F231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76" y="137160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51776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₹20.93L</a:t>
            </a:r>
            <a:endParaRPr lang="en-US" sz="2000" dirty="0"/>
          </a:p>
        </p:txBody>
      </p:sp>
      <p:sp>
        <p:nvSpPr>
          <p:cNvPr id="26" name="Text 18"/>
          <p:cNvSpPr/>
          <p:nvPr/>
        </p:nvSpPr>
        <p:spPr>
          <a:xfrm>
            <a:off x="7351776" y="272491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182880" y="3840480"/>
            <a:ext cx="877824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82880" y="3840480"/>
            <a:ext cx="8778240" cy="54864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7764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" y="3913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48.1%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914400" y="42611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9776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108960" y="3913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500" dirty="0"/>
          </a:p>
        </p:txBody>
      </p:sp>
      <p:sp>
        <p:nvSpPr>
          <p:cNvPr id="34" name="Text 24"/>
          <p:cNvSpPr/>
          <p:nvPr/>
        </p:nvSpPr>
        <p:spPr>
          <a:xfrm>
            <a:off x="3108960" y="42611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 Rate</a:t>
            </a:r>
            <a:endParaRPr lang="en-US" sz="9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97764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303520" y="3913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₹2.18L</a:t>
            </a:r>
            <a:endParaRPr lang="en-US" sz="1500" dirty="0"/>
          </a:p>
        </p:txBody>
      </p:sp>
      <p:sp>
        <p:nvSpPr>
          <p:cNvPr id="37" name="Text 26"/>
          <p:cNvSpPr/>
          <p:nvPr/>
        </p:nvSpPr>
        <p:spPr>
          <a:xfrm>
            <a:off x="5303520" y="42611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Fees Deducted</a:t>
            </a:r>
            <a:endParaRPr lang="en-US" sz="9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3977640"/>
            <a:ext cx="320040" cy="32004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498080" y="3913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50.6%</a:t>
            </a:r>
            <a:endParaRPr lang="en-US" sz="1500" dirty="0"/>
          </a:p>
        </p:txBody>
      </p:sp>
      <p:sp>
        <p:nvSpPr>
          <p:cNvPr id="40" name="Text 28"/>
          <p:cNvSpPr/>
          <p:nvPr/>
        </p:nvSpPr>
        <p:spPr>
          <a:xfrm>
            <a:off x="7498080" y="42611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Net Rev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COURSE-WISE REVENUE BREAKDOWN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per course  •  FY 2026–27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005840"/>
          <a:ext cx="3291840" cy="3749040"/>
        </p:xfrm>
        <a:graphic>
          <a:graphicData uri="http://schemas.openxmlformats.org/drawingml/2006/table">
            <a:tbl>
              <a:tblPr/>
              <a:tblGrid>
                <a:gridCol w="1417320"/>
                <a:gridCol w="457200"/>
                <a:gridCol w="594360"/>
                <a:gridCol w="822960"/>
              </a:tblGrid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Course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Adm.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Gross Rev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Spoken English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₹4,000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₹4.0L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Phonics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₹4,000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₹4.0L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Child Psychology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₹6,000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₹3.0L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Montessori Diploma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₹25,000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₹25.0L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Special Needs Edu.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₹9,000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₹4.5L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Digital Marketing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₹15,000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₹3.0L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TOTAL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420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₹43.5L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CASH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– March 2027  •  Revenue by course duration &amp; batch schedule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8595360" cy="329184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07408"/>
            <a:ext cx="4206240" cy="5669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407408"/>
            <a:ext cx="45720" cy="56692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2569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April dip: Book printing (₹2.0L) charged once annually in April. Net cash turns positive from May onwards.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3440" y="4407408"/>
            <a:ext cx="4206240" cy="5669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4407408"/>
            <a:ext cx="4572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442569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Higher revenue in Apr/Jun, Oct/Dec: 6M courses (Montessori &amp; Special Needs) batch starts.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 &amp; LOSS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 →  Exam Fees 5%  →  Ops Expenses  →  Net Profit  (₹20.93L  |  48.1% margin)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325880" cy="292608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7589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₹43.5L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76272" y="4014216"/>
            <a:ext cx="1325880" cy="146304"/>
          </a:xfrm>
          <a:prstGeom prst="rect">
            <a:avLst/>
          </a:prstGeom>
          <a:solidFill>
            <a:srgbClr val="8B3A3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76272" y="35387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−₹2.18L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76272" y="38770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76272" y="4206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5%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95344" y="1380744"/>
            <a:ext cx="1325880" cy="2779776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95344" y="9052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₹41.33L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95344" y="12435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95344" y="4206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14416" y="2788289"/>
            <a:ext cx="1325880" cy="1372231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14416" y="2312801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−₹20.4L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651129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14416" y="4206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Exp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33488" y="2752975"/>
            <a:ext cx="1325880" cy="1407545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33488" y="2277487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₹20.93L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33488" y="2615815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33488" y="4206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142232"/>
            <a:ext cx="832104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005840"/>
            <a:ext cx="8778240" cy="658368"/>
          </a:xfrm>
          <a:prstGeom prst="rect">
            <a:avLst/>
          </a:prstGeom>
          <a:solidFill>
            <a:srgbClr val="EEF7F0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SAVINGS vs ORIGINAL:   5 teachers removed = ₹8.4L saved   |   Exam fees cut 20%→5% = ₹6.525L saved   |   TOTAL ANNUAL SAVING = ₹14.925L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EXPENSE BREAKDOWN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Teachers (₹6L)  +  2 Tele Callers (₹2.4L)  +  Ops (₹12L)  +  Exam Fees 5% (₹2.175L)  =  Total ₹22.575L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914400"/>
          <a:ext cx="4206240" cy="393192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051560"/>
            <a:ext cx="429768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1051560"/>
            <a:ext cx="45720" cy="47548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13385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47488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5 Teachers × ₹10K/mo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589520" y="1097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₹6.0L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321040" y="10972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0" y="1618488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0" y="1618488"/>
            <a:ext cx="4572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70078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47488" y="1664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Callers — 2 Staff × ₹10K/mo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589520" y="16642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₹2.4L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321040" y="16642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0" y="2185416"/>
            <a:ext cx="429768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0" y="2185416"/>
            <a:ext cx="45720" cy="47548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2677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47488" y="2231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Fees (5% of Gross) ✅ Reduced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589520" y="22311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₹2.175L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321040" y="223113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72000" y="2752344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2752344"/>
            <a:ext cx="4572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28346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47488" y="27980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LMS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7589520" y="27980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₹3.6L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321040" y="27980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572000" y="3319272"/>
            <a:ext cx="4297680" cy="475488"/>
          </a:xfrm>
          <a:prstGeom prst="rect">
            <a:avLst/>
          </a:prstGeom>
          <a:solidFill>
            <a:srgbClr val="F5F9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572000" y="3319272"/>
            <a:ext cx="4572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40156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47488" y="3364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589520" y="3364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₹2.4L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321040" y="33649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572000" y="388620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572000" y="3886200"/>
            <a:ext cx="4572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3968496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047488" y="3931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7589520" y="3931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₹3.0L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8321040" y="3931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4572000" y="4453128"/>
            <a:ext cx="4297680" cy="475488"/>
          </a:xfrm>
          <a:prstGeom prst="rect">
            <a:avLst/>
          </a:prstGeom>
          <a:solidFill>
            <a:srgbClr val="F5F9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4572000" y="4453128"/>
            <a:ext cx="4572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4535424"/>
            <a:ext cx="274320" cy="2743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047488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Printing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7589520" y="4498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₹2.0L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8321040" y="44988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PROFITABILITY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Expenses ₹20.4L  •  Break-Even  •  Safety Margin  •  5 Teachers  •  Exam 5%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697480" cy="14813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697480" cy="54864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16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₹20.4L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84048" y="1709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Expenses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4048" y="1993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+ Tele + Ads + Tech + Rent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18688" y="1051560"/>
            <a:ext cx="2697480" cy="14813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051560"/>
            <a:ext cx="2697480" cy="54864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2344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58768" y="1216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₹10,357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328416" y="1709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Fee / Student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328416" y="1993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 across 6 courses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63056" y="1051560"/>
            <a:ext cx="2697480" cy="14813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63056" y="1051560"/>
            <a:ext cx="2697480" cy="54864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2344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03136" y="1216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₹9,839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272784" y="1709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/ Student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272784" y="1993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5% exam fee deduction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74320" y="2788920"/>
            <a:ext cx="2697480" cy="14813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788920"/>
            <a:ext cx="26974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7180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2953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207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384048" y="3447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Students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384048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needed to cover all ops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3218688" y="2788920"/>
            <a:ext cx="2697480" cy="14813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18688" y="2788920"/>
            <a:ext cx="26974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971800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58768" y="2953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3328416" y="3447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Admissions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3328416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students above break-even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163056" y="2788920"/>
            <a:ext cx="2697480" cy="1481328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63056" y="2788920"/>
            <a:ext cx="26974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2971800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03136" y="2953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50.7%</a:t>
            </a:r>
            <a:endParaRPr lang="en-US" sz="2000" dirty="0"/>
          </a:p>
        </p:txBody>
      </p:sp>
      <p:sp>
        <p:nvSpPr>
          <p:cNvPr id="40" name="Text 32"/>
          <p:cNvSpPr/>
          <p:nvPr/>
        </p:nvSpPr>
        <p:spPr>
          <a:xfrm>
            <a:off x="6272784" y="34472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Margin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272784" y="37307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well above break-even point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GROWTH PROJECTION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admission growth  •  5% annual fee revision  •  10% salary increment  •  Exam 5% maintained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5303520" cy="374904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05840"/>
            <a:ext cx="3108960" cy="12070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005840"/>
            <a:ext cx="64008" cy="1207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 2026-27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40817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₹43.5L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97880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647688" y="140817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₹41.33L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47688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97496" y="140817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₹20.93L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97496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147304" y="140817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147304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760720" y="2359152"/>
            <a:ext cx="3108960" cy="1207008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2359152"/>
            <a:ext cx="64008" cy="1207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2432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 2027-28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97880" y="276148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₹54.8L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897880" y="3127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647688" y="276148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₹52.1L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47688" y="3127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97496" y="276148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₹27.6L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97496" y="3127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147304" y="276148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504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147304" y="3127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760720" y="3712464"/>
            <a:ext cx="3108960" cy="1207008"/>
          </a:xfrm>
          <a:prstGeom prst="rect">
            <a:avLst/>
          </a:prstGeom>
          <a:solidFill>
            <a:srgbClr val="0F231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760720" y="3712464"/>
            <a:ext cx="64008" cy="1207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0" y="3785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 2028-29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897880" y="411480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₹69.0L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897880" y="44805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647688" y="411480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₹65.6L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647688" y="44805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7397496" y="411480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₹36.5L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397496" y="44805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147304" y="411480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605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147304" y="44805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ENROLLMENT FUNNEL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→ Enquiries → Counselling → Admissions → Completions → Placement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291840" cy="475488"/>
          </a:xfrm>
          <a:prstGeom prst="rect">
            <a:avLst/>
          </a:prstGeom>
          <a:solidFill>
            <a:srgbClr val="4A55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" y="1581912"/>
            <a:ext cx="2304288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5506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61872" y="2157984"/>
            <a:ext cx="1316736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231136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91056" y="2734056"/>
            <a:ext cx="658368" cy="47548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280720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28954" y="3310128"/>
            <a:ext cx="1382573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8954" y="3383280"/>
            <a:ext cx="13825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1623" y="3886200"/>
            <a:ext cx="127723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1623" y="3959352"/>
            <a:ext cx="12772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94790" y="4462272"/>
            <a:ext cx="1250899" cy="475488"/>
          </a:xfrm>
          <a:prstGeom prst="rect">
            <a:avLst/>
          </a:prstGeom>
          <a:solidFill>
            <a:srgbClr val="0F23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4790" y="4535424"/>
            <a:ext cx="12508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97280"/>
            <a:ext cx="301752" cy="30175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352544" y="1042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52544" y="1280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Rate: 100%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406640" y="1097280"/>
            <a:ext cx="146304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TRACK</a:t>
            </a:r>
            <a:endParaRPr lang="en-US" sz="7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673352"/>
            <a:ext cx="301752" cy="30175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352544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Calls Made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352544" y="1856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Rate: 70%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406640" y="1673352"/>
            <a:ext cx="146304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06640" y="1673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TRACK</a:t>
            </a:r>
            <a:endParaRPr lang="en-US" sz="75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249424"/>
            <a:ext cx="301752" cy="30175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352544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Sessions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352544" y="24323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Rate: 57%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7406640" y="2249424"/>
            <a:ext cx="146304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406640" y="22494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TRACK</a:t>
            </a:r>
            <a:endParaRPr lang="en-US" sz="7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825496"/>
            <a:ext cx="301752" cy="30175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352544" y="2770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Submitted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352544" y="3008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Rate: 50%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406640" y="2825496"/>
            <a:ext cx="146304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0664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TRACK</a:t>
            </a:r>
            <a:endParaRPr lang="en-US" sz="75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401568"/>
            <a:ext cx="301752" cy="30175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352544" y="3346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Admissions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4352544" y="3584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Rate: 75%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7406640" y="3401568"/>
            <a:ext cx="146304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406640" y="3401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TRACK</a:t>
            </a:r>
            <a:endParaRPr lang="en-US" sz="75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3977640"/>
            <a:ext cx="301752" cy="30175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352544" y="3922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Completions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4352544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Rate: 92%</a:t>
            </a:r>
            <a:endParaRPr lang="en-US" sz="850" dirty="0"/>
          </a:p>
        </p:txBody>
      </p:sp>
      <p:sp>
        <p:nvSpPr>
          <p:cNvPr id="48" name="Shape 40"/>
          <p:cNvSpPr/>
          <p:nvPr/>
        </p:nvSpPr>
        <p:spPr>
          <a:xfrm>
            <a:off x="7406640" y="3977640"/>
            <a:ext cx="146304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406640" y="3977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TRACK</a:t>
            </a:r>
            <a:endParaRPr lang="en-US" sz="75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4553712"/>
            <a:ext cx="301752" cy="30175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4352544" y="4498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/ Employed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4352544" y="4736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Rate: 98%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7406640" y="4553712"/>
            <a:ext cx="146304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7406640" y="4553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TRACK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F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FRANCHISE REVENUE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Economics  •  Network Revenue  •  ROI Timeline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148840" cy="107899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14884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0700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170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1673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Partners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06040" y="1051560"/>
            <a:ext cx="2148840" cy="107899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051560"/>
            <a:ext cx="214884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0700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72968" y="1170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697480" y="1673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Investment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74320" y="2313432"/>
            <a:ext cx="2148840" cy="107899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313432"/>
            <a:ext cx="214884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688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24323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365760" y="2935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Period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2606040" y="2313432"/>
            <a:ext cx="2148840" cy="107899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606040" y="2313432"/>
            <a:ext cx="214884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46888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172968" y="24323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2697480" y="2935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 Revenue Share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274320" y="3575304"/>
            <a:ext cx="2148840" cy="107899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3575304"/>
            <a:ext cx="214884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3075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36941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60/yr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365760" y="41970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Students/Partner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2606040" y="3575304"/>
            <a:ext cx="2148840" cy="1078992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606040" y="3575304"/>
            <a:ext cx="214884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730752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172968" y="36941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₹50K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2697480" y="41970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Fee (One-Time)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892040" y="1005840"/>
            <a:ext cx="3977640" cy="3749040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92040" y="1005840"/>
            <a:ext cx="3977640" cy="45720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02920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REVENUE TO ANSA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029200" y="1481328"/>
            <a:ext cx="3657600" cy="402336"/>
          </a:xfrm>
          <a:prstGeom prst="rect">
            <a:avLst/>
          </a:prstGeom>
          <a:solidFill>
            <a:srgbClr val="244A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138928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Fees (10 new partners)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7479792" y="15361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₹5,00,000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5029200" y="1956816"/>
            <a:ext cx="3657600" cy="402336"/>
          </a:xfrm>
          <a:prstGeom prst="rect">
            <a:avLst/>
          </a:prstGeom>
          <a:solidFill>
            <a:srgbClr val="244A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5138928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(50 partners × 15%)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7479792" y="2011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₹45,00,000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5029200" y="2432304"/>
            <a:ext cx="3657600" cy="402336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138928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Franchise Income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7479792" y="2487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₹50,00,000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5029200" y="2962656"/>
            <a:ext cx="3566160" cy="18288"/>
          </a:xfrm>
          <a:prstGeom prst="rect">
            <a:avLst/>
          </a:prstGeom>
          <a:solidFill>
            <a:srgbClr val="C8972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5029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P&amp;L (per center / year)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5138928" y="3364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Gross Revenue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7479792" y="33649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₹6.0L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5138928" y="3630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ANSA Share (15%)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7479792" y="3630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−₹90K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5138928" y="3895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Net Revenue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7479792" y="38953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₹5.1L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5138928" y="41605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Operating Costs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7479792" y="41605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−₹3.0L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5138928" y="44256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Net Profit</a:t>
            </a:r>
            <a:endParaRPr lang="en-US" sz="850" dirty="0"/>
          </a:p>
        </p:txBody>
      </p:sp>
      <p:sp>
        <p:nvSpPr>
          <p:cNvPr id="59" name="Text 51"/>
          <p:cNvSpPr/>
          <p:nvPr/>
        </p:nvSpPr>
        <p:spPr>
          <a:xfrm>
            <a:off x="7479792" y="4425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₹2.1L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&amp; OPERATIONAL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Teachers × ₹10K/mo  +  2 Tele Callers × ₹10K/mo  =  ₹8.4L/yr total salaries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5029200" cy="3730752"/>
        </p:xfrm>
        <a:graphic>
          <a:graphicData uri="http://schemas.openxmlformats.org/drawingml/2006/table">
            <a:tbl>
              <a:tblPr/>
              <a:tblGrid>
                <a:gridCol w="2103120"/>
                <a:gridCol w="1051560"/>
                <a:gridCol w="1005840"/>
                <a:gridCol w="868680"/>
              </a:tblGrid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Monthly (₹)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Annual (₹)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Montessori &amp; Primary Diploma Trainer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₹1.2L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✅ Keep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Special Needs Education Specialist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₹1.2L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✅ Keep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Spoken English Teacher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₹1.2L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✅ Keep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Phonics &amp; Early Literacy Teacher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₹1.2L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✅ Keep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Child Psychology Instructor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₹1.2L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✅ Keep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Tele Caller 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₹1.2L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✅ Keep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Tele Caller 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₹1.2L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5E20"/>
                          </a:solidFill>
                        </a:rPr>
                        <a:t>✅ Keep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TOTAL (5 Teachers + 2 Tele)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₹70,000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₹8.4L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4332"/>
                          </a:solidFill>
                        </a:rPr>
                        <a:t>7 Staff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B78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24128"/>
            <a:ext cx="3291840" cy="138988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77840" y="1024128"/>
            <a:ext cx="3291840" cy="54864"/>
          </a:xfrm>
          <a:prstGeom prst="rect">
            <a:avLst/>
          </a:prstGeom>
          <a:solidFill>
            <a:srgbClr val="E53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REMOVED (5 Teachers)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417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Spoken English Teacher #2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0" y="16002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Montessori Diploma Trainer #2 (Junior)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669280" y="1783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Marketing Trainer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69280" y="19659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Child Psychology Assistant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69280" y="21488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 Needs Assistant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77840" y="2514600"/>
            <a:ext cx="3291840" cy="2240280"/>
          </a:xfrm>
          <a:prstGeom prst="rect">
            <a:avLst/>
          </a:prstGeom>
          <a:solidFill>
            <a:srgbClr val="E8F5E9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0" y="2514600"/>
            <a:ext cx="329184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Annual Savings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0" y="2944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Teachers removed: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640" y="29443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₹6.0L/yr saved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fees 20%→5%: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06640" y="3364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₹6.525L/yr saved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saving: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06640" y="37856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₹12.525L/yr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cost now: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0664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₹8.4L (was ₹12L)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3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320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ANSA MONTESSORI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07008" y="6766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Institute  •  Inspireway Education Services Pvt Ltd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7772400" cy="13716"/>
          </a:xfrm>
          <a:prstGeom prst="rect">
            <a:avLst/>
          </a:prstGeom>
          <a:solidFill>
            <a:srgbClr val="C8972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India's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50292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Generation of Educators</a:t>
            </a:r>
            <a:endParaRPr lang="en-US" sz="3800" dirty="0"/>
          </a:p>
        </p:txBody>
      </p:sp>
      <p:sp>
        <p:nvSpPr>
          <p:cNvPr id="13" name="Shape 10"/>
          <p:cNvSpPr/>
          <p:nvPr/>
        </p:nvSpPr>
        <p:spPr>
          <a:xfrm>
            <a:off x="502920" y="2606040"/>
            <a:ext cx="1874520" cy="1188720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" y="2606040"/>
            <a:ext cx="1874520" cy="50292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6700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76072" y="3246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FY27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606040" y="2606040"/>
            <a:ext cx="1874520" cy="1188720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06040" y="2606040"/>
            <a:ext cx="1874520" cy="50292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79192" y="26700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₹43.5L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2679192" y="3246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2606040"/>
            <a:ext cx="1874520" cy="1188720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2606040"/>
            <a:ext cx="1874520" cy="50292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2312" y="26700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782312" y="3246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Rate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12280" y="2606040"/>
            <a:ext cx="1874520" cy="1188720"/>
          </a:xfrm>
          <a:prstGeom prst="rect">
            <a:avLst/>
          </a:prstGeom>
          <a:solidFill>
            <a:srgbClr val="1C382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12280" y="2606040"/>
            <a:ext cx="1874520" cy="50292"/>
          </a:xfrm>
          <a:prstGeom prst="rect">
            <a:avLst/>
          </a:prstGeom>
          <a:solidFill>
            <a:srgbClr val="C89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85432" y="267004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885432" y="324612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Schools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3858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educator training in your region?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" y="4206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info@anshamontessori.com  |  www.anshamontessori.com  |  +91-XXXXXXXXXX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Inspireway Education Services Private Limited.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2026-03-08T20:02:05Z</dcterms:created>
  <dcterms:modified xsi:type="dcterms:W3CDTF">2026-03-08T20:02:05Z</dcterms:modified>
</cp:coreProperties>
</file>